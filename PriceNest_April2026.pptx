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Intro: Jake, Saketh, Aditiya built PriceNest from scratch</a:t>
            </a:r>
          </a:p>
          <a:p>
            <a:r>
              <a:t>• CA-only AI real estate valuation — all 8,000+ census tracts</a:t>
            </a:r>
          </a:p>
          <a:p>
            <a:r>
              <a:t>• This deck covers everything shipped since April 17th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5-tab SPA: all features accessible without a page reload</a:t>
            </a:r>
          </a:p>
          <a:p>
            <a:r>
              <a:t>• 8,000+ census tracts cover every corner of California</a:t>
            </a:r>
          </a:p>
          <a:p>
            <a:r>
              <a:t>• No account needed — designed for fast, frictionless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5-model ML ensemble: RF, Extra Trees, HGB, XGBoost, LightGBM then Ridge meta-learner</a:t>
            </a:r>
          </a:p>
          <a:p>
            <a:r>
              <a:t>• OOF (out-of-fold) stacking prevents data leakage</a:t>
            </a:r>
          </a:p>
          <a:p>
            <a:r>
              <a:t>• GeoPandas R-tree sindex makes spatial lookups O(log n)</a:t>
            </a:r>
          </a:p>
          <a:p>
            <a:r>
              <a:t>• LRU cache means repeat queries skip the network entirely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tract_anchor at 50% — raw census ground truth dominates</a:t>
            </a:r>
          </a:p>
          <a:p>
            <a:r>
              <a:t>• p_knn fills spatial gaps between tracts</a:t>
            </a:r>
          </a:p>
          <a:p>
            <a:r>
              <a:t>• p_base adds cross-CA ML pattern recognition</a:t>
            </a:r>
          </a:p>
          <a:p>
            <a:r>
              <a:t>• When RentCast is available it overrides at 70%/30% on top of this blend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KNN fix: closest comp was being skipped every single query</a:t>
            </a:r>
          </a:p>
          <a:p>
            <a:r>
              <a:t>• Blend fix: p_knn was computed but thrown away before the final number</a:t>
            </a:r>
          </a:p>
          <a:p>
            <a:r>
              <a:t>• Contribution fix: driver bars were using wrong county factor</a:t>
            </a:r>
          </a:p>
          <a:p>
            <a:r>
              <a:t>• Coast KD-tree: independent geometry check catches stale tract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20 improvements in one sprint — focused on discoverability + feedback</a:t>
            </a:r>
          </a:p>
          <a:p>
            <a:r>
              <a:t>• Loading bar + toasts give real-time status during slow API calls</a:t>
            </a:r>
          </a:p>
          <a:p>
            <a:r>
              <a:t>• Tracker persistence means users keep their pipeline across sessions</a:t>
            </a:r>
          </a:p>
          <a:p>
            <a:r>
              <a:t>• Dark mode was the most visible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Dark mode — persists across sessions, all components covered</a:t>
            </a:r>
          </a:p>
          <a:p>
            <a:r>
              <a:t>• Tracker persistence — critical for real estate deal workflow</a:t>
            </a:r>
          </a:p>
          <a:p>
            <a:r>
              <a:t>• Mortgage breakdown gives true all-in monthly cost, not just P&amp;I</a:t>
            </a:r>
          </a:p>
          <a:p>
            <a:r>
              <a:t>• Rent estimate auto-populates the buy vs. rent chart with real market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Census data is the backbone — 8k tracts across all of CA</a:t>
            </a:r>
          </a:p>
          <a:p>
            <a:r>
              <a:t>• RentCast gives real MLS signal — overrides our model at 70% weight</a:t>
            </a:r>
          </a:p>
          <a:p>
            <a:r>
              <a:t>• Nominatim is free but rate-limited to 1 req/sec — LRU cache is essential</a:t>
            </a:r>
          </a:p>
          <a:p>
            <a:r>
              <a:t>• KD-tree is the safety net for coast distance edge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Raw features alone miss non-linear value drivers</a:t>
            </a:r>
          </a:p>
          <a:p>
            <a:r>
              <a:t>• coast_income: high-income coastal areas cost disproportionately more</a:t>
            </a:r>
          </a:p>
          <a:p>
            <a:r>
              <a:t>• 4 luxury hotspot distances: Silicon Valley, Beverly Hills, La Jolla, Marin</a:t>
            </a:r>
          </a:p>
          <a:p>
            <a:r>
              <a:t>• Log transforms match how income and density are actually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All 4 bugs were silent — code ran fine but used wrong data</a:t>
            </a:r>
          </a:p>
          <a:p>
            <a:r>
              <a:t>• 20 UI improvements shipped in one batch = high leverage</a:t>
            </a:r>
          </a:p>
          <a:p>
            <a:r>
              <a:t>• Next priority: mobile layout and cloud sync</a:t>
            </a:r>
          </a:p>
          <a:p>
            <a:r>
              <a:t>• Lesson: always verify computed values are actually used in the final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Thank the audience</a:t>
            </a:r>
          </a:p>
          <a:p>
            <a:r>
              <a:t>• Open to Q&amp;A</a:t>
            </a:r>
          </a:p>
          <a:p>
            <a:r>
              <a:t>• Live demo available — can search any California address in real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PriceNest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DBB11"/>
                </a:solidFill>
              </a:rPr>
              <a:t>AI-Powered California Real Estate Valuation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</a:rPr>
              <a:t>April 2026 Development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DBB11"/>
                </a:solidFill>
              </a:rPr>
              <a:t>Jake  ·  Saketh  ·  Aditiya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Confidential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PriceNest?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DBB11"/>
                </a:solidFill>
              </a:rPr>
              <a:t>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FDBB11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AI-driven home valuation covering all of California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DBB11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Instant price estimates with ±7% confidence ranges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DBB11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5-tab interface: Home, Live Map, Pro Analysis, Tracker, LifeBudget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DBB11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No login required — runs entirely in the browser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DBB11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Built on real ACS 2021-22 Census data (~8,000 tracts)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3B82F6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Neighborhood Intelligence: income, density, coast &amp; city distances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3B82F6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20-year property value forecast under 3 market scenarios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3B82F6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Mortgage breakdown with PITI, PMI, and break-even vs. rent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3B82F6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Property Tracker with localStorage persistence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3B82F6"/>
                </a:solidFill>
              </a:rPr>
              <a:t>• </a:t>
            </a:r>
            <a:r>
              <a:rPr sz="1500">
                <a:solidFill>
                  <a:srgbClr val="0B1C3E"/>
                </a:solidFill>
              </a:rPr>
              <a:t>Investment score across 5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BB11"/>
                </a:solidFill>
              </a:rPr>
              <a:t>Tools, libraries &amp; services powering PriceNest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47088"/>
            <a:ext cx="35204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Flask (Python) — REST API + rate limiting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Flask-Limiter: 60 req/min per IP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GeoPandas + Shapely — spatial joins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Scikit-learn — OOF stacking ensemble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XGBoost + LightGBM — gradient boosters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NumPy / Pandas — data pipeline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LRU cache — geocode &amp; API response 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98448"/>
            <a:ext cx="3749039" cy="6400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Data &amp;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847088"/>
            <a:ext cx="35204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ACS 2021-22 Census (~8,000 CA tracts)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US Census TIGER shapefiles (tract polygons)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Nominatim / OpenStreetMap — geocoding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RentCast AVM — comparable sales values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RentCast Rent AVM — monthly rent estimates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Google Street View Static API — photos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CA coastline KD-tree (EPSG:3310)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9844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1847088"/>
            <a:ext cx="35204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Tailwind CSS — utility-first styling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Dark mode via html.dark class toggle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Chart.js — buy/rent, forecast, score charts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Leaflet.js — interactive CA heatmap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localStorage — tracker + search history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Intl.NumberFormat — currency formatting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Vanilla JS — no framework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Price Modeling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DBB11"/>
                </a:solidFill>
              </a:rPr>
              <a:t>How we blend multiple signals into a single accurate estimate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47120" cy="749808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DBB11"/>
                </a:solidFill>
              </a:rPr>
              <a:t>Final Price  =  p_base × 0.30  +  p_knn × 0.20  +  tract_anchor × 0.50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3749039" cy="4315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212848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p_base  · 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724912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5-model OOF stacking ensemble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RF + Extra Trees + HGB + XGBoost + LightGBM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Ridge meta-learner on OOF predictions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~30 engineered features per census tract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Log-space prediction → exponentiated back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Dampened to ±8% around market_base cap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212848"/>
            <a:ext cx="3749039" cy="4315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212848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p_knn  · 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7" y="2724912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7 nearest census tracts by lat/lon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Median home value from ACS data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Sklearn NearestNeighbors on centroids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Captures hyper-local neighborhood pricing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Bug fix Apr 2026: was never in the blend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Now properly in the 3-way formula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212848"/>
            <a:ext cx="3749039" cy="4315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212848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tract_anchor  · 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724912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Direct census tract median home value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Most weight — anchors to ground truth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County appreciation factor (0.97–1.12×)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Represents 2022 → 2024 market delta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22 CA counties explicitly mapped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Price-tiered fallback for unmapped counties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Accuracy Bug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BB11"/>
                </a:solidFill>
              </a:rPr>
              <a:t>Four critical fixes — silent failures that degraded every estimate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5669280" cy="237744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5669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KNN Self-Exclusion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Query used idxs[0][1:] — a training-time self-exclusion pattern that silently skipped the closest census tract comp. Changed to idxs[0]. Nearest neighbor now correctly included.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53312"/>
            <a:ext cx="5669280" cy="237744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53312"/>
            <a:ext cx="566928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KNN Result Never Used in Blend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p_knn was computed but the formula only used p_base and tract_anchor (45/55 split). Changed to 3-way blend (30/20/50). Neighborhood comps now actually influence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95344"/>
            <a:ext cx="5669280" cy="237744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95344"/>
            <a:ext cx="5669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86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Contribution Analysis County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_price_with() re-computed market_base using a fallback formula, ignoring the resolved county lookup. Fixed to reuse pre-computed market_base — driver bars now accurate for all 22 mapped counties.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95344"/>
            <a:ext cx="5669280" cy="237744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95344"/>
            <a:ext cx="5669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86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Coast Distance Cross-Validation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Added KD-tree geometric check. If the census tract value and KD-tree disagree by &gt;50%, the KD-tree overrides — eliminating stale tract data and shapely polygon interior measurement errors.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20 UI/UX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DBB11"/>
                </a:solidFill>
              </a:rPr>
              <a:t>Quality-of-life upgrades shipped in a single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Animated loading bar during API calls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Click-to-copy price on valuation hero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Browser tab title updates on each search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/ keyboard shortcut focuses search bar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Search history dropdown (last 6 searches)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Chart.js dark mode palettes for all charts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My Location button on map (Geolocation API)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Tracker stats row: count, avg, highest value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Housing cost warning if &gt;30% of income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DBB11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Savings warning if monthly surplus &lt; 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53312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Transport budget field in LifeBudget tab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Clickable market stats ticker on Home tab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Analysis subtitle shows current address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Print Report button on valuation result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Input validation with inline error messages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Tracker total animates on value change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Empty state shows 3 example address pills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Clear button resets the Live Map search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Confidence range tooltip with explanation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3B82F6"/>
                </a:solidFill>
              </a:rPr>
              <a:t>• </a:t>
            </a:r>
            <a:r>
              <a:rPr sz="1350">
                <a:solidFill>
                  <a:srgbClr val="0B1C3E"/>
                </a:solidFill>
              </a:rPr>
              <a:t>Dark mode active tab highlight 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Major Feature Additions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BB11"/>
                </a:solidFill>
              </a:rPr>
              <a:t>Six substantial new capabilities added since April 17th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89888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Dark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Full-site Tailwind dark via html.dark class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Persisted to localStorage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Fixed chart palettes and text contrast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98448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98448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7" y="1389888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Property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Add/remove properties from any valuation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Survives page refresh via localStorage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Stats row: pipeline value, avg, highest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98448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98448"/>
            <a:ext cx="3749039" cy="45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89888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Mortgage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P+I, property tax (1.1%/yr), insurance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PMI calculated if down payment &lt; 20%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Break-even vs. rent month shown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02336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Smart Search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43984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Regex /^\d+\s/ detects street addresses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Address → Pro Analysis; text → Live Map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Header + in-panel search use same logic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931920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931920"/>
            <a:ext cx="3749039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7" y="402336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In-Panel Address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4443984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Dedicated search bar in Pro Analysis panel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No need to find the tiny header search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Syncs with header search on every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749039" cy="246888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402336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RentCast Rent 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43984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Calls /v1/avm/rent/long-term live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Shows est. monthly rent + gross yield %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FFFFFF"/>
                </a:solidFill>
              </a:rPr>
              <a:t>Auto-fills rent comp for buy/rent chart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 Sources &amp; External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DBB11"/>
                </a:solidFill>
              </a:rPr>
              <a:t>Open data + proprietary APIs combined for maximum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3749039" cy="45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89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BB11"/>
                </a:solidFill>
              </a:rPr>
              <a:t>ACS 2021-22 Census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92224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~8,000 California census tracts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Median home value, income, age, population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Housing units, population density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DBB1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Foundation of all ML training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98448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298448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7" y="1389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TIGER Shapefiles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792224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Tract polygon boundaries for spatial joins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R-tree sindex for O(log n) point-in-polygon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CA coastline geometry for distance calc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B82F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City centroids GeoDataFrame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98448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98448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389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Nominatim / 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92224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Free geocoder — address → lat/lon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3-tier fallback: CA bounded → US → global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LRU-cached per address string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3-attempt exponential backoff retry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77056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77056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6849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RentCast AVM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70832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/v1/avm/value — comparable sales estimate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/v1/avm/rent/long-term — rent estimate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Blended at 70% when available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7C3AED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LRU-cached per address + specs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877056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877056"/>
            <a:ext cx="3749039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7" y="396849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Google Street View Static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4370832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640×420 exterior photo per property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FOV 90°, pitch 5° for street-level framing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Outdoor source filter avoids indoor shots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F97316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Shown in Pro Analysis left panel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877056"/>
            <a:ext cx="3749039" cy="23957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877056"/>
            <a:ext cx="3749039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96849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CA Coastline KD-Tree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70832"/>
            <a:ext cx="35661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Independent coast distance verification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Built from CA shoreline vertex coordinates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EPSG:3310 projected — meter-level accuracy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0B1C3E"/>
                </a:solidFill>
              </a:rPr>
              <a:t>Overrides tract value if discrepancy &gt;50%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ML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BB11"/>
                </a:solidFill>
              </a:rPr>
              <a:t>~30 features per census tract feeding the 5-model stacking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Raw Census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4708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median_income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median_house_age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population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housing_units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pop_density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dist_coast_km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dist_city_km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B82F6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lat, lon (tract centroid)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98448"/>
            <a:ext cx="3749039" cy="6400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Engineered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84708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income_per_age = income / (age+1)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coast_income = income / (coast+1)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city_density = density / (dist_city+1)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income_density = income x density / 1e8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occupancy_pressure = pop / units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relative_density = density / CA_avg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log_income, log_density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FDBB1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log_coast, log_city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98448"/>
            <a:ext cx="3749039" cy="5230368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9844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408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Geospatial &amp; Polynomial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184708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lat_sq, lon_sq, lat_lon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dist_sv — Silicon Valley distance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dist_bh — Beverly Hills distance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dist_lj — La Jolla distance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dist_marin — Marin County distance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coast_sq, age_sq (curvature)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coast_city_ratio = dist_city/(coast+1)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B981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income_sq = income^2 / 1e9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Results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DBB11"/>
                </a:solidFill>
              </a:rPr>
              <a:t>Summary of what was built and where we’re headed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2743200" cy="16002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27432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BB11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Accuracy Bug Fixes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53312"/>
            <a:ext cx="2743200" cy="16002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53312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447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UI/UX Improvements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53312"/>
            <a:ext cx="2743200" cy="16002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53312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447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Major New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53312"/>
            <a:ext cx="2743200" cy="16002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53312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3-Way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Price Blend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C3E"/>
                </a:solidFill>
              </a:rPr>
              <a:t>Next Steps &amp;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FDBB11"/>
                </a:solidFill>
              </a:rPr>
              <a:t>• </a:t>
            </a:r>
            <a:r>
              <a:rPr sz="1300">
                <a:solidFill>
                  <a:srgbClr val="0B1C3E"/>
                </a:solidFill>
              </a:rPr>
              <a:t>Expand RentCast rent AVM to auto-populate all searches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DBB11"/>
                </a:solidFill>
              </a:rPr>
              <a:t>• </a:t>
            </a:r>
            <a:r>
              <a:rPr sz="1300">
                <a:solidFill>
                  <a:srgbClr val="0B1C3E"/>
                </a:solidFill>
              </a:rPr>
              <a:t>Zillow / Redfin data scraping for additional price signal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DBB11"/>
                </a:solidFill>
              </a:rPr>
              <a:t>• </a:t>
            </a:r>
            <a:r>
              <a:rPr sz="1300">
                <a:solidFill>
                  <a:srgbClr val="0B1C3E"/>
                </a:solidFill>
              </a:rPr>
              <a:t>User accounts + cloud-synced property tracker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DBB11"/>
                </a:solidFill>
              </a:rPr>
              <a:t>• </a:t>
            </a:r>
            <a:r>
              <a:rPr sz="1300">
                <a:solidFill>
                  <a:srgbClr val="0B1C3E"/>
                </a:solidFill>
              </a:rPr>
              <a:t>Mobile-responsive layout for field use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DBB11"/>
                </a:solidFill>
              </a:rPr>
              <a:t>• </a:t>
            </a:r>
            <a:r>
              <a:rPr sz="1300">
                <a:solidFill>
                  <a:srgbClr val="0B1C3E"/>
                </a:solidFill>
              </a:rPr>
              <a:t>Export valuations to PDF / Excel for client presentations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C3E"/>
                </a:solidFill>
              </a:rPr>
              <a:t>Key Lesson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The biggest accuracy wins came from fixing silent bugs that caused real data to be ignored — not from adding new models. Correctness first, complexity second.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PriceNest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DBB11"/>
                </a:solidFill>
              </a:rPr>
              <a:t>AI-Powered  ·  California-Wide  ·  Built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Jake  ·  Saketh  ·  Aditiya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