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C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303520"/>
            <a:ext cx="12188952" cy="1554480"/>
          </a:xfrm>
          <a:prstGeom prst="rect">
            <a:avLst/>
          </a:prstGeom>
          <a:solidFill>
            <a:srgbClr val="07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88952" cy="64008"/>
          </a:xfrm>
          <a:prstGeom prst="rect">
            <a:avLst/>
          </a:prstGeom>
          <a:solidFill>
            <a:srgbClr val="FDB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DBB11"/>
                </a:solidFill>
              </a:rPr>
              <a:t>PriceNest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Development Session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290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94A3B8"/>
                </a:solidFill>
              </a:rPr>
              <a:t>Heatmap · Deployment · AI Valuation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577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Jake Beater  ·  Saketh Patibandla  ·  Aditya Dandamudi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989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</a:rPr>
              <a:t>April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DB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1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What is PriceNest?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FDB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530352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50876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B1C3E"/>
                </a:solidFill>
              </a:rPr>
              <a:t>Core Purpose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112264"/>
            <a:ext cx="109728" cy="109728"/>
          </a:xfrm>
          <a:prstGeom prst="rect">
            <a:avLst/>
          </a:prstGeom>
          <a:solidFill>
            <a:srgbClr val="FDB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993392"/>
            <a:ext cx="46451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B1C3E"/>
                </a:solidFill>
              </a:rPr>
              <a:t>AI-powered California home valuation tool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587752"/>
            <a:ext cx="109728" cy="109728"/>
          </a:xfrm>
          <a:prstGeom prst="rect">
            <a:avLst/>
          </a:prstGeom>
          <a:solidFill>
            <a:srgbClr val="FDB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2468880"/>
            <a:ext cx="46451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B1C3E"/>
                </a:solidFill>
              </a:rPr>
              <a:t>Stacked ML ensemble: Random Forest + KNN meta-model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3063240"/>
            <a:ext cx="109728" cy="109728"/>
          </a:xfrm>
          <a:prstGeom prst="rect">
            <a:avLst/>
          </a:prstGeom>
          <a:solidFill>
            <a:srgbClr val="FDB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" y="2944368"/>
            <a:ext cx="46451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B1C3E"/>
                </a:solidFill>
              </a:rPr>
              <a:t>Geocodes any CA address and predicts market value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3538728"/>
            <a:ext cx="109728" cy="109728"/>
          </a:xfrm>
          <a:prstGeom prst="rect">
            <a:avLst/>
          </a:prstGeom>
          <a:solidFill>
            <a:srgbClr val="FDB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" y="3419856"/>
            <a:ext cx="46451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B1C3E"/>
                </a:solidFill>
              </a:rPr>
              <a:t>Interactive live map with pricing heatmap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4014215"/>
            <a:ext cx="109728" cy="109728"/>
          </a:xfrm>
          <a:prstGeom prst="rect">
            <a:avLst/>
          </a:prstGeom>
          <a:solidFill>
            <a:srgbClr val="FDB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" y="3895344"/>
            <a:ext cx="46451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B1C3E"/>
                </a:solidFill>
              </a:rPr>
              <a:t>Built-in pipeline tracker and budget analyzer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35040" y="1371600"/>
            <a:ext cx="576072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150876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B1C3E"/>
                </a:solidFill>
              </a:rPr>
              <a:t>Tech Stack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2112264"/>
            <a:ext cx="109728" cy="109728"/>
          </a:xfrm>
          <a:prstGeom prst="rect">
            <a:avLst/>
          </a:prstGeom>
          <a:solidFill>
            <a:srgbClr val="FDB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64807" y="1993392"/>
            <a:ext cx="51023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B1C3E"/>
                </a:solidFill>
              </a:rPr>
              <a:t>Flask (Python web server)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2587752"/>
            <a:ext cx="109728" cy="109728"/>
          </a:xfrm>
          <a:prstGeom prst="rect">
            <a:avLst/>
          </a:prstGeom>
          <a:solidFill>
            <a:srgbClr val="FDB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64807" y="2468880"/>
            <a:ext cx="51023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B1C3E"/>
                </a:solidFill>
              </a:rPr>
              <a:t>scikit-learn (ML model)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640" y="3063240"/>
            <a:ext cx="109728" cy="109728"/>
          </a:xfrm>
          <a:prstGeom prst="rect">
            <a:avLst/>
          </a:prstGeom>
          <a:solidFill>
            <a:srgbClr val="FDB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64807" y="2944368"/>
            <a:ext cx="51023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B1C3E"/>
                </a:solidFill>
              </a:rPr>
              <a:t>GeoPandas + Shapely (spatial data)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3538728"/>
            <a:ext cx="109728" cy="109728"/>
          </a:xfrm>
          <a:prstGeom prst="rect">
            <a:avLst/>
          </a:prstGeom>
          <a:solidFill>
            <a:srgbClr val="FDB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64807" y="3419856"/>
            <a:ext cx="51023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B1C3E"/>
                </a:solidFill>
              </a:rPr>
              <a:t>Leaflet.js (interactive map)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4014215"/>
            <a:ext cx="109728" cy="109728"/>
          </a:xfrm>
          <a:prstGeom prst="rect">
            <a:avLst/>
          </a:prstGeom>
          <a:solidFill>
            <a:srgbClr val="FDB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64807" y="3895344"/>
            <a:ext cx="51023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B1C3E"/>
                </a:solidFill>
              </a:rPr>
              <a:t>Tailwind CSS (UI)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63640" y="4489704"/>
            <a:ext cx="109728" cy="109728"/>
          </a:xfrm>
          <a:prstGeom prst="rect">
            <a:avLst/>
          </a:prstGeom>
          <a:solidFill>
            <a:srgbClr val="FDB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64807" y="4370832"/>
            <a:ext cx="51023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B1C3E"/>
                </a:solidFill>
              </a:rPr>
              <a:t>Nominatim (geocoding)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63640" y="4965192"/>
            <a:ext cx="109728" cy="109728"/>
          </a:xfrm>
          <a:prstGeom prst="rect">
            <a:avLst/>
          </a:prstGeom>
          <a:solidFill>
            <a:srgbClr val="FDB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64807" y="4846320"/>
            <a:ext cx="51023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B1C3E"/>
                </a:solidFill>
              </a:rPr>
              <a:t>Flask-Limiter (rate limiting)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1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What We Built This Session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FDB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371600"/>
            <a:ext cx="54864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371600"/>
            <a:ext cx="502920" cy="2194560"/>
          </a:xfrm>
          <a:prstGeom prst="rect">
            <a:avLst/>
          </a:prstGeom>
          <a:solidFill>
            <a:srgbClr val="0B1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3192" y="2011680"/>
            <a:ext cx="365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DBB11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7" y="1536192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B1C3E"/>
                </a:solidFill>
              </a:rPr>
              <a:t>Environment Setup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7" y="2011680"/>
            <a:ext cx="4663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</a:rPr>
              <a:t>Installed all Python dependencies and got the Flask app running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371600"/>
            <a:ext cx="54864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371600"/>
            <a:ext cx="502920" cy="2194560"/>
          </a:xfrm>
          <a:prstGeom prst="rect">
            <a:avLst/>
          </a:prstGeom>
          <a:solidFill>
            <a:srgbClr val="0B1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36792" y="2011680"/>
            <a:ext cx="365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DBB11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1536192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B1C3E"/>
                </a:solidFill>
              </a:rPr>
              <a:t>Live Map Heatmap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22007" y="2011680"/>
            <a:ext cx="4663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</a:rPr>
              <a:t>Built a smooth heat-blur overlay using training dataset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3931920"/>
            <a:ext cx="54864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3931920"/>
            <a:ext cx="502920" cy="2194560"/>
          </a:xfrm>
          <a:prstGeom prst="rect">
            <a:avLst/>
          </a:prstGeom>
          <a:solidFill>
            <a:srgbClr val="0B1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3192" y="4572000"/>
            <a:ext cx="365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DBB11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7" y="4096511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B1C3E"/>
                </a:solidFill>
              </a:rPr>
              <a:t>Hexagon Heatmap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7" y="4572000"/>
            <a:ext cx="4663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</a:rPr>
              <a:t>Replaced blur with precise, clickable hexagonal grid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3931920"/>
            <a:ext cx="54864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63640" y="3931920"/>
            <a:ext cx="502920" cy="2194560"/>
          </a:xfrm>
          <a:prstGeom prst="rect">
            <a:avLst/>
          </a:prstGeom>
          <a:solidFill>
            <a:srgbClr val="0B1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36792" y="4572000"/>
            <a:ext cx="365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DBB11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22007" y="4096511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B1C3E"/>
                </a:solidFill>
              </a:rPr>
              <a:t>Deployment Hardening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22007" y="4572000"/>
            <a:ext cx="4663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</a:rPr>
              <a:t>Fixed security issues and prepared for production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1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Environment Setup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FDB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685800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173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B1C3E"/>
                </a:solidFill>
              </a:rPr>
              <a:t>Packages Installed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920240"/>
            <a:ext cx="708660" cy="301752"/>
          </a:xfrm>
          <a:prstGeom prst="rect">
            <a:avLst/>
          </a:prstGeom>
          <a:solidFill>
            <a:srgbClr val="FDB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956816"/>
            <a:ext cx="59893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B1C3E"/>
                </a:solidFill>
              </a:rPr>
              <a:t>flask</a:t>
            </a:r>
          </a:p>
        </p:txBody>
      </p:sp>
      <p:sp>
        <p:nvSpPr>
          <p:cNvPr id="9" name="Rectangle 8"/>
          <p:cNvSpPr/>
          <p:nvPr/>
        </p:nvSpPr>
        <p:spPr>
          <a:xfrm>
            <a:off x="3904487" y="1920240"/>
            <a:ext cx="1252728" cy="301752"/>
          </a:xfrm>
          <a:prstGeom prst="rect">
            <a:avLst/>
          </a:prstGeom>
          <a:solidFill>
            <a:srgbClr val="FDB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14215" y="1956816"/>
            <a:ext cx="1143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B1C3E"/>
                </a:solidFill>
              </a:rPr>
              <a:t>scikit-learn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450592"/>
            <a:ext cx="1019556" cy="301752"/>
          </a:xfrm>
          <a:prstGeom prst="rect">
            <a:avLst/>
          </a:prstGeom>
          <a:solidFill>
            <a:srgbClr val="FDB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2487168"/>
            <a:ext cx="90982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B1C3E"/>
                </a:solidFill>
              </a:rPr>
              <a:t>geopandas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04487" y="2450592"/>
            <a:ext cx="864108" cy="301752"/>
          </a:xfrm>
          <a:prstGeom prst="rect">
            <a:avLst/>
          </a:prstGeom>
          <a:solidFill>
            <a:srgbClr val="FDB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14215" y="2487168"/>
            <a:ext cx="7543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B1C3E"/>
                </a:solidFill>
              </a:rPr>
              <a:t>shapely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980944"/>
            <a:ext cx="708660" cy="301752"/>
          </a:xfrm>
          <a:prstGeom prst="rect">
            <a:avLst/>
          </a:prstGeom>
          <a:solidFill>
            <a:srgbClr val="FDB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3017520"/>
            <a:ext cx="59893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B1C3E"/>
                </a:solidFill>
              </a:rPr>
              <a:t>geopy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904487" y="2980944"/>
            <a:ext cx="786384" cy="301752"/>
          </a:xfrm>
          <a:prstGeom prst="rect">
            <a:avLst/>
          </a:prstGeom>
          <a:solidFill>
            <a:srgbClr val="FDB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14215" y="3017520"/>
            <a:ext cx="67665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B1C3E"/>
                </a:solidFill>
              </a:rPr>
              <a:t>pandas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3511296"/>
            <a:ext cx="708660" cy="301752"/>
          </a:xfrm>
          <a:prstGeom prst="rect">
            <a:avLst/>
          </a:prstGeom>
          <a:solidFill>
            <a:srgbClr val="FDB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3547872"/>
            <a:ext cx="59893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B1C3E"/>
                </a:solidFill>
              </a:rPr>
              <a:t>numpy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904487" y="3511296"/>
            <a:ext cx="941832" cy="301752"/>
          </a:xfrm>
          <a:prstGeom prst="rect">
            <a:avLst/>
          </a:prstGeom>
          <a:solidFill>
            <a:srgbClr val="FDB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14215" y="3547872"/>
            <a:ext cx="83210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B1C3E"/>
                </a:solidFill>
              </a:rPr>
              <a:t>requests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4041648"/>
            <a:ext cx="786384" cy="301752"/>
          </a:xfrm>
          <a:prstGeom prst="rect">
            <a:avLst/>
          </a:prstGeom>
          <a:solidFill>
            <a:srgbClr val="FDB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" y="4078224"/>
            <a:ext cx="67665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B1C3E"/>
                </a:solidFill>
              </a:rPr>
              <a:t>joblib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904487" y="4041648"/>
            <a:ext cx="1330452" cy="301752"/>
          </a:xfrm>
          <a:prstGeom prst="rect">
            <a:avLst/>
          </a:prstGeom>
          <a:solidFill>
            <a:srgbClr val="FDB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014215" y="4078224"/>
            <a:ext cx="122072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B1C3E"/>
                </a:solidFill>
              </a:rPr>
              <a:t>flask-limiter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4572000"/>
            <a:ext cx="1330452" cy="301752"/>
          </a:xfrm>
          <a:prstGeom prst="rect">
            <a:avLst/>
          </a:prstGeom>
          <a:solidFill>
            <a:srgbClr val="FDB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6" y="4608576"/>
            <a:ext cx="122072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B1C3E"/>
                </a:solidFill>
              </a:rPr>
              <a:t>python-dotenv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04487" y="4572000"/>
            <a:ext cx="941832" cy="301752"/>
          </a:xfrm>
          <a:prstGeom prst="rect">
            <a:avLst/>
          </a:prstGeom>
          <a:solidFill>
            <a:srgbClr val="FDB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014215" y="4608576"/>
            <a:ext cx="83210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B1C3E"/>
                </a:solidFill>
              </a:rPr>
              <a:t>gunicorn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589520" y="1280160"/>
            <a:ext cx="42519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18120" y="14173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B1C3E"/>
                </a:solidFill>
              </a:rPr>
              <a:t>Python Version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818120" y="1993391"/>
            <a:ext cx="109728" cy="109728"/>
          </a:xfrm>
          <a:prstGeom prst="rect">
            <a:avLst/>
          </a:prstGeom>
          <a:solidFill>
            <a:srgbClr val="FDB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19288" y="1874519"/>
            <a:ext cx="3639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B1C3E"/>
                </a:solidFill>
              </a:rPr>
              <a:t>Python 3.9.6 (system)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818120" y="2496311"/>
            <a:ext cx="109728" cy="109728"/>
          </a:xfrm>
          <a:prstGeom prst="rect">
            <a:avLst/>
          </a:prstGeom>
          <a:solidFill>
            <a:srgbClr val="FDB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19288" y="2377439"/>
            <a:ext cx="3639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B1C3E"/>
                </a:solidFill>
              </a:rPr>
              <a:t>pip via python3 -m pip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818120" y="2999232"/>
            <a:ext cx="109728" cy="109728"/>
          </a:xfrm>
          <a:prstGeom prst="rect">
            <a:avLst/>
          </a:prstGeom>
          <a:solidFill>
            <a:srgbClr val="FDB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19288" y="2880360"/>
            <a:ext cx="3639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B1C3E"/>
                </a:solidFill>
              </a:rPr>
              <a:t>User-level install path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589520" y="3840480"/>
            <a:ext cx="425196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818120" y="3977639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B1C3E"/>
                </a:solidFill>
              </a:rPr>
              <a:t>How to Run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818120" y="4553712"/>
            <a:ext cx="109728" cy="109728"/>
          </a:xfrm>
          <a:prstGeom prst="rect">
            <a:avLst/>
          </a:prstGeom>
          <a:solidFill>
            <a:srgbClr val="FDB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19288" y="4434840"/>
            <a:ext cx="36393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B1C3E"/>
                </a:solidFill>
              </a:rPr>
              <a:t>Dev:  python3 app.py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818120" y="5084064"/>
            <a:ext cx="109728" cy="109728"/>
          </a:xfrm>
          <a:prstGeom prst="rect">
            <a:avLst/>
          </a:prstGeom>
          <a:solidFill>
            <a:srgbClr val="FDB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19288" y="4965192"/>
            <a:ext cx="36393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B1C3E"/>
                </a:solidFill>
              </a:rPr>
              <a:t>Prod: gunicorn -w 2 app:app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818120" y="5614416"/>
            <a:ext cx="109728" cy="109728"/>
          </a:xfrm>
          <a:prstGeom prst="rect">
            <a:avLst/>
          </a:prstGeom>
          <a:solidFill>
            <a:srgbClr val="FDB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19288" y="5495544"/>
            <a:ext cx="36393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B1C3E"/>
                </a:solidFill>
              </a:rPr>
              <a:t>URL:  http://127.0.0.1:8000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1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Heatmap Feature — Phase 1: Heat Blur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FDB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530352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173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B1C3E"/>
                </a:solidFill>
              </a:rPr>
              <a:t>Implementation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993391"/>
            <a:ext cx="109728" cy="109728"/>
          </a:xfrm>
          <a:prstGeom prst="rect">
            <a:avLst/>
          </a:prstGeom>
          <a:solidFill>
            <a:srgbClr val="FDB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874519"/>
            <a:ext cx="46451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B1C3E"/>
                </a:solidFill>
              </a:rPr>
              <a:t>Added Leaflet.heat plugin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468879"/>
            <a:ext cx="109728" cy="109728"/>
          </a:xfrm>
          <a:prstGeom prst="rect">
            <a:avLst/>
          </a:prstGeom>
          <a:solidFill>
            <a:srgbClr val="FDB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2350008"/>
            <a:ext cx="46451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B1C3E"/>
                </a:solidFill>
              </a:rPr>
              <a:t>Flask route /heatmap-data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944368"/>
            <a:ext cx="109728" cy="109728"/>
          </a:xfrm>
          <a:prstGeom prst="rect">
            <a:avLst/>
          </a:prstGeom>
          <a:solidFill>
            <a:srgbClr val="FDB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" y="2825496"/>
            <a:ext cx="46451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B1C3E"/>
                </a:solidFill>
              </a:rPr>
              <a:t>8,766 CA census tract centroids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3419856"/>
            <a:ext cx="109728" cy="109728"/>
          </a:xfrm>
          <a:prstGeom prst="rect">
            <a:avLst/>
          </a:prstGeom>
          <a:solidFill>
            <a:srgbClr val="FDB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" y="3300984"/>
            <a:ext cx="46451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B1C3E"/>
                </a:solidFill>
              </a:rPr>
              <a:t>Intensities normalized to price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3895344"/>
            <a:ext cx="109728" cy="109728"/>
          </a:xfrm>
          <a:prstGeom prst="rect">
            <a:avLst/>
          </a:prstGeom>
          <a:solidFill>
            <a:srgbClr val="FDB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" y="3776472"/>
            <a:ext cx="46451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B1C3E"/>
                </a:solidFill>
              </a:rPr>
              <a:t>Toggle button on Live Map tab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4370832"/>
            <a:ext cx="109728" cy="109728"/>
          </a:xfrm>
          <a:prstGeom prst="rect">
            <a:avLst/>
          </a:prstGeom>
          <a:solidFill>
            <a:srgbClr val="FDB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8" y="4251960"/>
            <a:ext cx="46451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B1C3E"/>
                </a:solidFill>
              </a:rPr>
              <a:t>Gradient: Blue → Cyan → Green → Yellow → Red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5040" y="1280160"/>
            <a:ext cx="576072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3640" y="14173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B1C3E"/>
                </a:solidFill>
              </a:rPr>
              <a:t>Problems Found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1993391"/>
            <a:ext cx="109728" cy="10972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64807" y="1874519"/>
            <a:ext cx="51023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C2626"/>
                </a:solidFill>
              </a:rPr>
              <a:t>Only half of CA showed gradient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640" y="2468879"/>
            <a:ext cx="109728" cy="10972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64807" y="2350008"/>
            <a:ext cx="51023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C2626"/>
                </a:solidFill>
              </a:rPr>
              <a:t>Rural low-price areas invisible (intensity ≈ 0)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2944368"/>
            <a:ext cx="109728" cy="10972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64807" y="2825496"/>
            <a:ext cx="51023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C2626"/>
                </a:solidFill>
              </a:rPr>
              <a:t>Linear normalization $21K–$2M caused gaps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35040" y="3840480"/>
            <a:ext cx="576072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3977639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B1C3E"/>
                </a:solidFill>
              </a:rPr>
              <a:t>Fixes Applied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63640" y="4553712"/>
            <a:ext cx="10972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64807" y="4434840"/>
            <a:ext cx="51023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0B981"/>
                </a:solidFill>
              </a:rPr>
              <a:t>Switched to percentile normalization (p10–p90)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63640" y="5029199"/>
            <a:ext cx="10972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64807" y="4910327"/>
            <a:ext cx="51023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0B981"/>
                </a:solidFill>
              </a:rPr>
              <a:t>All tracts guaranteed intensity ≥ 0.05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63640" y="5504688"/>
            <a:ext cx="10972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64807" y="5385816"/>
            <a:ext cx="51023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0B981"/>
                </a:solidFill>
              </a:rPr>
              <a:t>minOpacity raised to 0.55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63640" y="5980176"/>
            <a:ext cx="10972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64807" y="5861304"/>
            <a:ext cx="51023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0B981"/>
                </a:solidFill>
              </a:rPr>
              <a:t>Dense point sampling: up to 80 pts per tract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1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Heatmap Feature — Phase 2: Hexagon Grid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FDB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713232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17320"/>
            <a:ext cx="6675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B1C3E"/>
                </a:solidFill>
              </a:rPr>
              <a:t>How It Works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993391"/>
            <a:ext cx="109728" cy="109728"/>
          </a:xfrm>
          <a:prstGeom prst="rect">
            <a:avLst/>
          </a:prstGeom>
          <a:solidFill>
            <a:srgbClr val="FDB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874519"/>
            <a:ext cx="65653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B1C3E"/>
                </a:solidFill>
              </a:rPr>
              <a:t>Pointy-top hexagonal grid, 0.08° circumradius (~9 km per hex)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468879"/>
            <a:ext cx="109728" cy="109728"/>
          </a:xfrm>
          <a:prstGeom prst="rect">
            <a:avLst/>
          </a:prstGeom>
          <a:solidFill>
            <a:srgbClr val="FDB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2350008"/>
            <a:ext cx="65653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B1C3E"/>
                </a:solidFill>
              </a:rPr>
              <a:t>Grid spans full California bounding box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944368"/>
            <a:ext cx="109728" cy="109728"/>
          </a:xfrm>
          <a:prstGeom prst="rect">
            <a:avLst/>
          </a:prstGeom>
          <a:solidFill>
            <a:srgbClr val="FDB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" y="2825496"/>
            <a:ext cx="65653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B1C3E"/>
                </a:solidFill>
              </a:rPr>
              <a:t>Each hex centroid spatially joined to nearest census tract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3419856"/>
            <a:ext cx="109728" cy="109728"/>
          </a:xfrm>
          <a:prstGeom prst="rect">
            <a:avLst/>
          </a:prstGeom>
          <a:solidFill>
            <a:srgbClr val="FDB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" y="3300984"/>
            <a:ext cx="65653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B1C3E"/>
                </a:solidFill>
              </a:rPr>
              <a:t>Price mapped to color via 5-stop gradient ($300K → $5M+)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3895344"/>
            <a:ext cx="109728" cy="109728"/>
          </a:xfrm>
          <a:prstGeom prst="rect">
            <a:avLst/>
          </a:prstGeom>
          <a:solidFill>
            <a:srgbClr val="FDB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" y="3776472"/>
            <a:ext cx="65653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B1C3E"/>
                </a:solidFill>
              </a:rPr>
              <a:t>Rendered as L.geoJSON layer — not a blur overlay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4370832"/>
            <a:ext cx="109728" cy="109728"/>
          </a:xfrm>
          <a:prstGeom prst="rect">
            <a:avLst/>
          </a:prstGeom>
          <a:solidFill>
            <a:srgbClr val="FDB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8" y="4251960"/>
            <a:ext cx="65653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B1C3E"/>
                </a:solidFill>
              </a:rPr>
              <a:t>Click any hexagon → popup shows median home value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4846320"/>
            <a:ext cx="109728" cy="109728"/>
          </a:xfrm>
          <a:prstGeom prst="rect">
            <a:avLst/>
          </a:prstGeom>
          <a:solidFill>
            <a:srgbClr val="FDB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8" y="4727448"/>
            <a:ext cx="65653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B1C3E"/>
                </a:solidFill>
              </a:rPr>
              <a:t>Hover highlights hex in white with increased opacity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5321807"/>
            <a:ext cx="109728" cy="109728"/>
          </a:xfrm>
          <a:prstGeom prst="rect">
            <a:avLst/>
          </a:prstGeom>
          <a:solidFill>
            <a:srgbClr val="FDB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8" y="5202936"/>
            <a:ext cx="65653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B1C3E"/>
                </a:solidFill>
              </a:rPr>
              <a:t>Toggle button: yellow when active, glass when off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5797296"/>
            <a:ext cx="109728" cy="109728"/>
          </a:xfrm>
          <a:prstGeom prst="rect">
            <a:avLst/>
          </a:prstGeom>
          <a:solidFill>
            <a:srgbClr val="FDB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5528" y="5678424"/>
            <a:ext cx="65653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B1C3E"/>
                </a:solidFill>
              </a:rPr>
              <a:t>Legend panel: gradient bar + color swatch key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63840" y="1280160"/>
            <a:ext cx="3977639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92440" y="141732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B1C3E"/>
                </a:solidFill>
              </a:rPr>
              <a:t>Color Scale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92440" y="1947672"/>
            <a:ext cx="201168" cy="20116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94192" y="1874519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B1C3E"/>
                </a:solidFill>
              </a:rPr>
              <a:t>$300K and under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92440" y="2331720"/>
            <a:ext cx="201168" cy="20116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94192" y="225856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B1C3E"/>
                </a:solidFill>
              </a:rPr>
              <a:t>$300K – $1M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92440" y="2715768"/>
            <a:ext cx="201168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94192" y="2642615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B1C3E"/>
                </a:solidFill>
              </a:rPr>
              <a:t>$1M – $2M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92440" y="3099815"/>
            <a:ext cx="201168" cy="2011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94192" y="3026663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B1C3E"/>
                </a:solidFill>
              </a:rPr>
              <a:t>$2M – $3.5M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92440" y="3483863"/>
            <a:ext cx="201168" cy="20116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94192" y="3410711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B1C3E"/>
                </a:solidFill>
              </a:rPr>
              <a:t>$3.5M – $5M+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863840" y="3749039"/>
            <a:ext cx="3977639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92440" y="388620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B1C3E"/>
                </a:solidFill>
              </a:rPr>
              <a:t>Technical Stats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92440" y="4462272"/>
            <a:ext cx="109728" cy="109728"/>
          </a:xfrm>
          <a:prstGeom prst="rect">
            <a:avLst/>
          </a:prstGeom>
          <a:solidFill>
            <a:srgbClr val="FDB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93608" y="4343400"/>
            <a:ext cx="3364991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B1C3E"/>
                </a:solidFill>
              </a:rPr>
              <a:t>~3,200 hexagons over California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92440" y="4937759"/>
            <a:ext cx="109728" cy="109728"/>
          </a:xfrm>
          <a:prstGeom prst="rect">
            <a:avLst/>
          </a:prstGeom>
          <a:solidFill>
            <a:srgbClr val="FDB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93608" y="4818888"/>
            <a:ext cx="3364991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B1C3E"/>
                </a:solidFill>
              </a:rPr>
              <a:t>8,766 census tracts as source data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92440" y="5413248"/>
            <a:ext cx="109728" cy="109728"/>
          </a:xfrm>
          <a:prstGeom prst="rect">
            <a:avLst/>
          </a:prstGeom>
          <a:solidFill>
            <a:srgbClr val="FDB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93608" y="5294376"/>
            <a:ext cx="3364991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B1C3E"/>
                </a:solidFill>
              </a:rPr>
              <a:t>GeoJSON served via /heatmap-data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92440" y="5888736"/>
            <a:ext cx="109728" cy="109728"/>
          </a:xfrm>
          <a:prstGeom prst="rect">
            <a:avLst/>
          </a:prstGeom>
          <a:solidFill>
            <a:srgbClr val="FDB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93608" y="5769864"/>
            <a:ext cx="3364991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B1C3E"/>
                </a:solidFill>
              </a:rPr>
              <a:t>Cached at server startup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1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Deployment Hardening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FDB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325880"/>
            <a:ext cx="55778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84632" y="1490472"/>
            <a:ext cx="708660" cy="3017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527048"/>
            <a:ext cx="59893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</a:rPr>
              <a:t>FIXED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19" y="1463039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B1C3E"/>
                </a:solidFill>
              </a:rPr>
              <a:t>API Key Hardcoded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7" y="1892807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Key was in source code
Moved to .env via python-dotenv
Never committed to git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59" y="1325880"/>
            <a:ext cx="55778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73951" y="1490472"/>
            <a:ext cx="708660" cy="3017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79" y="1527048"/>
            <a:ext cx="59893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</a:rPr>
              <a:t>FIXED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1463039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B1C3E"/>
                </a:solidFill>
              </a:rPr>
              <a:t>Debug Mode 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0527" y="1892807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debug=True exposed stack traces
Set to debug=False for production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3154680"/>
            <a:ext cx="55778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84632" y="3319272"/>
            <a:ext cx="708660" cy="3017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355848"/>
            <a:ext cx="59893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</a:rPr>
              <a:t>FIXED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19" y="3291840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B1C3E"/>
                </a:solidFill>
              </a:rPr>
              <a:t>No Rate Limiting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" y="3721608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Predict endpoint open to abuse
10 req/min per IP via Flask-Limiter
Global: 200/day, 60/hr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59" y="3154680"/>
            <a:ext cx="55778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73951" y="3319272"/>
            <a:ext cx="708660" cy="3017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79" y="3355848"/>
            <a:ext cx="59893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</a:rPr>
              <a:t>FIXED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3291840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B1C3E"/>
                </a:solidFill>
              </a:rPr>
              <a:t>sklearn Version Mismatch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0527" y="3721608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Model trained on 1.8.0, running 1.6.1
Retrained on current version
R² = 0.79, MAE = $134K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4983480"/>
            <a:ext cx="55778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84632" y="5148072"/>
            <a:ext cx="708660" cy="3017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5184648"/>
            <a:ext cx="59893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</a:rPr>
              <a:t>FIXED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17319" y="5120640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B1C3E"/>
                </a:solidFill>
              </a:rPr>
              <a:t>No requirements.txt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1207" y="5550408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No reproducible installs
All 12 packages pinned by version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59" y="4983480"/>
            <a:ext cx="55778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73951" y="5148072"/>
            <a:ext cx="708660" cy="3017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79" y="5184648"/>
            <a:ext cx="59893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</a:rPr>
              <a:t>FIXED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06640" y="5120640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B1C3E"/>
                </a:solidFill>
              </a:rPr>
              <a:t>Dev Server in Production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10527" y="5550408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Flask dev server is single-threaded
Gunicorn installed for prod use
gunicorn -w 2 app:app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1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AI Model — Retrained &amp; Validated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FDB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530352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173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B1C3E"/>
                </a:solidFill>
              </a:rPr>
              <a:t>Training Pipeline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993391"/>
            <a:ext cx="109728" cy="109728"/>
          </a:xfrm>
          <a:prstGeom prst="rect">
            <a:avLst/>
          </a:prstGeom>
          <a:solidFill>
            <a:srgbClr val="FDB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874519"/>
            <a:ext cx="46451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B1C3E"/>
                </a:solidFill>
              </a:rPr>
              <a:t>Dataset: 8,766 CA census tracts (GeoJSON)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468879"/>
            <a:ext cx="109728" cy="109728"/>
          </a:xfrm>
          <a:prstGeom prst="rect">
            <a:avLst/>
          </a:prstGeom>
          <a:solidFill>
            <a:srgbClr val="FDB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2350008"/>
            <a:ext cx="46451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B1C3E"/>
                </a:solidFill>
              </a:rPr>
              <a:t>Outlier removal: bottom 1% and top 1% stripped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944368"/>
            <a:ext cx="109728" cy="109728"/>
          </a:xfrm>
          <a:prstGeom prst="rect">
            <a:avLst/>
          </a:prstGeom>
          <a:solidFill>
            <a:srgbClr val="FDB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" y="2825496"/>
            <a:ext cx="46451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B1C3E"/>
                </a:solidFill>
              </a:rPr>
              <a:t>Price range after cleaning: $154K – $2M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3419856"/>
            <a:ext cx="109728" cy="109728"/>
          </a:xfrm>
          <a:prstGeom prst="rect">
            <a:avLst/>
          </a:prstGeom>
          <a:solidFill>
            <a:srgbClr val="FDB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" y="3300984"/>
            <a:ext cx="46451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B1C3E"/>
                </a:solidFill>
              </a:rPr>
              <a:t>80% train / 20% test split (random_state=42)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3895344"/>
            <a:ext cx="109728" cy="109728"/>
          </a:xfrm>
          <a:prstGeom prst="rect">
            <a:avLst/>
          </a:prstGeom>
          <a:solidFill>
            <a:srgbClr val="FDB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" y="3776472"/>
            <a:ext cx="46451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B1C3E"/>
                </a:solidFill>
              </a:rPr>
              <a:t>Algorithm: Random Forest (200 trees, depth 15)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4370832"/>
            <a:ext cx="109728" cy="109728"/>
          </a:xfrm>
          <a:prstGeom prst="rect">
            <a:avLst/>
          </a:prstGeom>
          <a:solidFill>
            <a:srgbClr val="FDB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8" y="4251960"/>
            <a:ext cx="46451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B1C3E"/>
                </a:solidFill>
              </a:rPr>
              <a:t>Training uses all CPU cores (n_jobs=-1)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5040" y="1280160"/>
            <a:ext cx="274320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3640" y="14173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B1C3E"/>
                </a:solidFill>
              </a:rPr>
              <a:t>Performance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1965960"/>
            <a:ext cx="2560320" cy="914400"/>
          </a:xfrm>
          <a:prstGeom prst="rect">
            <a:avLst/>
          </a:prstGeom>
          <a:solidFill>
            <a:srgbClr val="0B1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72200" y="2039112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DBB11"/>
                </a:solidFill>
              </a:rPr>
              <a:t>0.79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25146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R² Score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72200" y="3063239"/>
            <a:ext cx="2560320" cy="914400"/>
          </a:xfrm>
          <a:prstGeom prst="rect">
            <a:avLst/>
          </a:prstGeom>
          <a:solidFill>
            <a:srgbClr val="0B1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72200" y="3136391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DBB11"/>
                </a:solidFill>
              </a:rPr>
              <a:t>$134K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72200" y="3611879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MAE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72200" y="4160520"/>
            <a:ext cx="2560320" cy="914400"/>
          </a:xfrm>
          <a:prstGeom prst="rect">
            <a:avLst/>
          </a:prstGeom>
          <a:solidFill>
            <a:srgbClr val="0B1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72200" y="4233672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DBB11"/>
                </a:solidFill>
              </a:rPr>
              <a:t>200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72200" y="4709159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Trees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72200" y="5257800"/>
            <a:ext cx="2560320" cy="914400"/>
          </a:xfrm>
          <a:prstGeom prst="rect">
            <a:avLst/>
          </a:prstGeom>
          <a:solidFill>
            <a:srgbClr val="0B1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72200" y="5330952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DBB11"/>
                </a:solidFill>
              </a:rP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72200" y="58064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Features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098280" y="1280160"/>
            <a:ext cx="269748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26880" y="14173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B1C3E"/>
                </a:solidFill>
              </a:rPr>
              <a:t>Feature Set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326880" y="1993391"/>
            <a:ext cx="109728" cy="109728"/>
          </a:xfrm>
          <a:prstGeom prst="rect">
            <a:avLst/>
          </a:prstGeom>
          <a:solidFill>
            <a:srgbClr val="FDB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28048" y="1874519"/>
            <a:ext cx="21762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B1C3E"/>
                </a:solidFill>
              </a:rPr>
              <a:t>median_income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326880" y="2450591"/>
            <a:ext cx="109728" cy="109728"/>
          </a:xfrm>
          <a:prstGeom prst="rect">
            <a:avLst/>
          </a:prstGeom>
          <a:solidFill>
            <a:srgbClr val="FDB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528048" y="2331720"/>
            <a:ext cx="21762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B1C3E"/>
                </a:solidFill>
              </a:rPr>
              <a:t>median_house_age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326880" y="2907791"/>
            <a:ext cx="109728" cy="109728"/>
          </a:xfrm>
          <a:prstGeom prst="rect">
            <a:avLst/>
          </a:prstGeom>
          <a:solidFill>
            <a:srgbClr val="FDB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528048" y="2788920"/>
            <a:ext cx="21762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B1C3E"/>
                </a:solidFill>
              </a:rPr>
              <a:t>population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326880" y="3364991"/>
            <a:ext cx="109728" cy="109728"/>
          </a:xfrm>
          <a:prstGeom prst="rect">
            <a:avLst/>
          </a:prstGeom>
          <a:solidFill>
            <a:srgbClr val="FDB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528048" y="3246120"/>
            <a:ext cx="21762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B1C3E"/>
                </a:solidFill>
              </a:rPr>
              <a:t>housing_units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326880" y="3822191"/>
            <a:ext cx="109728" cy="109728"/>
          </a:xfrm>
          <a:prstGeom prst="rect">
            <a:avLst/>
          </a:prstGeom>
          <a:solidFill>
            <a:srgbClr val="FDB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528048" y="3703320"/>
            <a:ext cx="21762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B1C3E"/>
                </a:solidFill>
              </a:rPr>
              <a:t>pop_density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326880" y="4279392"/>
            <a:ext cx="109728" cy="109728"/>
          </a:xfrm>
          <a:prstGeom prst="rect">
            <a:avLst/>
          </a:prstGeom>
          <a:solidFill>
            <a:srgbClr val="FDB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528048" y="4160520"/>
            <a:ext cx="21762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B1C3E"/>
                </a:solidFill>
              </a:rPr>
              <a:t>dist_coast_km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326880" y="4736592"/>
            <a:ext cx="109728" cy="109728"/>
          </a:xfrm>
          <a:prstGeom prst="rect">
            <a:avLst/>
          </a:prstGeom>
          <a:solidFill>
            <a:srgbClr val="FDB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528048" y="4617720"/>
            <a:ext cx="21762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B1C3E"/>
                </a:solidFill>
              </a:rPr>
              <a:t>dist_city_km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326880" y="5193792"/>
            <a:ext cx="109728" cy="109728"/>
          </a:xfrm>
          <a:prstGeom prst="rect">
            <a:avLst/>
          </a:prstGeom>
          <a:solidFill>
            <a:srgbClr val="FDB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528048" y="5074920"/>
            <a:ext cx="21762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B1C3E"/>
                </a:solidFill>
              </a:rPr>
              <a:t>income_per_age*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326880" y="5650992"/>
            <a:ext cx="109728" cy="109728"/>
          </a:xfrm>
          <a:prstGeom prst="rect">
            <a:avLst/>
          </a:prstGeom>
          <a:solidFill>
            <a:srgbClr val="FDB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528048" y="5532120"/>
            <a:ext cx="21762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B1C3E"/>
                </a:solidFill>
              </a:rPr>
              <a:t>persons_per_unit*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326880" y="6108192"/>
            <a:ext cx="109728" cy="109728"/>
          </a:xfrm>
          <a:prstGeom prst="rect">
            <a:avLst/>
          </a:prstGeom>
          <a:solidFill>
            <a:srgbClr val="FDB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528048" y="5989320"/>
            <a:ext cx="21762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B1C3E"/>
                </a:solidFill>
              </a:rPr>
              <a:t>relative_density*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326880" y="61264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</a:rPr>
              <a:t>* engineered features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1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Files Created &amp; Modified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FDB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1147572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30352" y="1481328"/>
            <a:ext cx="941832" cy="3017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17904"/>
            <a:ext cx="83210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</a:rPr>
              <a:t>MODIFIED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36775" y="146304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B1C3E"/>
                </a:solidFill>
              </a:rPr>
              <a:t>app.py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1463040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Added hex grid, rate limiting, env vars, debug off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938528"/>
            <a:ext cx="1147572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30352" y="2048256"/>
            <a:ext cx="941832" cy="3017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084832"/>
            <a:ext cx="83210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</a:rPr>
              <a:t>MODIFIED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36775" y="2029968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B1C3E"/>
                </a:solidFill>
              </a:rPr>
              <a:t>templates/index.html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029968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Hex GeoJSON layer, toggle button, legend, popup styles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505456"/>
            <a:ext cx="1147572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30352" y="2615184"/>
            <a:ext cx="1019556" cy="3017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651760"/>
            <a:ext cx="90982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</a:rPr>
              <a:t>RETRAINED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14499" y="2596896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B1C3E"/>
                </a:solidFill>
              </a:rPr>
              <a:t>price_nest_model.joblib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2596896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Rebuilt on sklearn 1.6.1 — eliminates version warnings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072384"/>
            <a:ext cx="1147572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0352" y="3182112"/>
            <a:ext cx="1019556" cy="3017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218688"/>
            <a:ext cx="90982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</a:rPr>
              <a:t>RETRAINED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14499" y="3163824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B1C3E"/>
                </a:solidFill>
              </a:rPr>
              <a:t>model_features.joblib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3163824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Feature list saved alongside model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639312"/>
            <a:ext cx="1147572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30352" y="3749039"/>
            <a:ext cx="553212" cy="3017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3785615"/>
            <a:ext cx="44348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</a:rPr>
              <a:t>NEW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48156" y="373075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B1C3E"/>
                </a:solidFill>
              </a:rPr>
              <a:t>.env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3730752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Stores RENTCAST_API_KEY — never committed to git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206240"/>
            <a:ext cx="1147572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30352" y="4315968"/>
            <a:ext cx="553212" cy="3017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4352544"/>
            <a:ext cx="44348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</a:rPr>
              <a:t>NEW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48156" y="4297679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B1C3E"/>
                </a:solidFill>
              </a:rPr>
              <a:t>.env.example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9120" y="4297679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Template so collaborators know required env vars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4773168"/>
            <a:ext cx="1147572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30352" y="4882896"/>
            <a:ext cx="553212" cy="3017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4919472"/>
            <a:ext cx="44348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</a:rPr>
              <a:t>NEW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48156" y="4864607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B1C3E"/>
                </a:solidFill>
              </a:rPr>
              <a:t>.gitignore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89120" y="4864607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Excludes .env, __pycache__, *.joblib from version control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5340096"/>
            <a:ext cx="1147572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30352" y="5449824"/>
            <a:ext cx="553212" cy="3017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5486400"/>
            <a:ext cx="44348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</a:rPr>
              <a:t>NEW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48156" y="5431536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B1C3E"/>
                </a:solidFill>
              </a:rPr>
              <a:t>requirements.txt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89120" y="5431536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All 12 packages pinned to exact versions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5907024"/>
            <a:ext cx="1147572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30352" y="6016752"/>
            <a:ext cx="553212" cy="3017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" y="6053328"/>
            <a:ext cx="44348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</a:rPr>
              <a:t>NEW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248156" y="5998464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B1C3E"/>
                </a:solidFill>
              </a:rPr>
              <a:t>make_slides.py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89120" y="5998464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This presentation — auto-generated via python-pptx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C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DB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07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Next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645920" cy="54864"/>
          </a:xfrm>
          <a:prstGeom prst="rect">
            <a:avLst/>
          </a:prstGeom>
          <a:solidFill>
            <a:srgbClr val="FDB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5486400" cy="1298448"/>
          </a:xfrm>
          <a:prstGeom prst="rect">
            <a:avLst/>
          </a:prstGeom>
          <a:solidFill>
            <a:srgbClr val="13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5486400" cy="54864"/>
          </a:xfrm>
          <a:prstGeom prst="rect">
            <a:avLst/>
          </a:prstGeom>
          <a:solidFill>
            <a:srgbClr val="FDB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60020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DBB11"/>
                </a:solidFill>
              </a:rPr>
              <a:t>Geocoding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965960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</a:rPr>
              <a:t>Replace Nominatim with Google Maps or Mapbox API for production-grade geocoding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1463040"/>
            <a:ext cx="5486400" cy="1298448"/>
          </a:xfrm>
          <a:prstGeom prst="rect">
            <a:avLst/>
          </a:prstGeom>
          <a:solidFill>
            <a:srgbClr val="13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463040"/>
            <a:ext cx="5486400" cy="54864"/>
          </a:xfrm>
          <a:prstGeom prst="rect">
            <a:avLst/>
          </a:prstGeom>
          <a:solidFill>
            <a:srgbClr val="FDB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56248" y="160020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DBB11"/>
                </a:solidFill>
              </a:rPr>
              <a:t>Expand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6248" y="1965960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</a:rPr>
              <a:t>Add nationwide dataset (Census ACS) to cover all 50 states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926080"/>
            <a:ext cx="5486400" cy="1298448"/>
          </a:xfrm>
          <a:prstGeom prst="rect">
            <a:avLst/>
          </a:prstGeom>
          <a:solidFill>
            <a:srgbClr val="13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926080"/>
            <a:ext cx="5486400" cy="54864"/>
          </a:xfrm>
          <a:prstGeom prst="rect">
            <a:avLst/>
          </a:prstGeom>
          <a:solidFill>
            <a:srgbClr val="FDB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306324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DBB11"/>
                </a:solidFill>
              </a:rPr>
              <a:t>Hosting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429000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</a:rPr>
              <a:t>Deploy to a cloud platform — Render, Railway, or AWS Elastic Beanstalk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5080" y="2926080"/>
            <a:ext cx="5486400" cy="1298448"/>
          </a:xfrm>
          <a:prstGeom prst="rect">
            <a:avLst/>
          </a:prstGeom>
          <a:solidFill>
            <a:srgbClr val="13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5080" y="2926080"/>
            <a:ext cx="5486400" cy="54864"/>
          </a:xfrm>
          <a:prstGeom prst="rect">
            <a:avLst/>
          </a:prstGeom>
          <a:solidFill>
            <a:srgbClr val="FDB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56248" y="306324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DBB11"/>
                </a:solidFill>
              </a:rPr>
              <a:t>HTTPS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56248" y="3429000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</a:rPr>
              <a:t>Add TLS certificate (Let's Encrypt) before going public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389120"/>
            <a:ext cx="5486400" cy="1298448"/>
          </a:xfrm>
          <a:prstGeom prst="rect">
            <a:avLst/>
          </a:prstGeom>
          <a:solidFill>
            <a:srgbClr val="13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4389120"/>
            <a:ext cx="5486400" cy="54864"/>
          </a:xfrm>
          <a:prstGeom prst="rect">
            <a:avLst/>
          </a:prstGeom>
          <a:solidFill>
            <a:srgbClr val="FDB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452628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DBB11"/>
                </a:solidFill>
              </a:rPr>
              <a:t>Auth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4892040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</a:rPr>
              <a:t>Add user accounts so clients can save and revisit their valuations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5080" y="4389120"/>
            <a:ext cx="5486400" cy="1298448"/>
          </a:xfrm>
          <a:prstGeom prst="rect">
            <a:avLst/>
          </a:prstGeom>
          <a:solidFill>
            <a:srgbClr val="13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55080" y="4389120"/>
            <a:ext cx="5486400" cy="54864"/>
          </a:xfrm>
          <a:prstGeom prst="rect">
            <a:avLst/>
          </a:prstGeom>
          <a:solidFill>
            <a:srgbClr val="FDB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56248" y="452628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DBB11"/>
                </a:solidFill>
              </a:rPr>
              <a:t>Mobile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56248" y="4892040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</a:rPr>
              <a:t>Optimize responsive layout for iPhone and Android browsers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2910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</a:rPr>
              <a:t>PriceNest  ·  April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