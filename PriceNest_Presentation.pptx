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907792"/>
            <a:ext cx="11868912" cy="59436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82296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</a:rPr>
              <a:t>PriceNest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0574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1">
                <a:solidFill>
                  <a:srgbClr val="FDBB11"/>
                </a:solidFill>
              </a:rPr>
              <a:t>AI-Powered California Home 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09067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EF8"/>
                </a:solidFill>
              </a:rPr>
              <a:t>14-Day Development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943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</a:rPr>
              <a:t>By Jake, Saketh &amp; Adih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594360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 i="0">
                <a:solidFill>
                  <a:srgbClr val="64748B"/>
                </a:solidFill>
              </a:rPr>
              <a:t>April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What is PriceNest?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2286000" cy="41148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E8EEF8"/>
                </a:solidFill>
              </a:rPr>
              <a:t>The product we built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</a:rPr>
              <a:t>• A web application that estimates California home values using AI and public data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</a:rPr>
              <a:t>• Users enter any CA address + property specs (sqft, beds, baths, condition)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</a:rPr>
              <a:t>• The model returns an estimated price, confidence range, and breakdown of price drivers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</a:rPr>
              <a:t>• 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</a:rPr>
              <a:t>• Key capabilities: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0">
                <a:solidFill>
                  <a:srgbClr val="E8EEF8"/>
                </a:solidFill>
              </a:rPr>
              <a:t>  ▸ Live Map — interactive hex heatmap of home values across all of California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0">
                <a:solidFill>
                  <a:srgbClr val="E8EEF8"/>
                </a:solidFill>
              </a:rPr>
              <a:t>  ▸ Pro Analysis — buy vs. rent cost comparison with multi-year chart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0">
                <a:solidFill>
                  <a:srgbClr val="E8EEF8"/>
                </a:solidFill>
              </a:rPr>
              <a:t>  ▸ Price Driver Breakdown — shows which factors are pushing the price up or down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0">
                <a:solidFill>
                  <a:srgbClr val="E8EEF8"/>
                </a:solidFill>
              </a:rPr>
              <a:t>  ▸ Market Stats Panel — real-time CA median, coastal premium, and tier benchmarks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Tech Stack &amp; Data 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2286000" cy="41148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E8EEF8"/>
                </a:solidFill>
              </a:rPr>
              <a:t>Resources powering PriceNest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DBB11"/>
                </a:solidFill>
              </a:rP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2024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</a:rPr>
              <a:t>• Python / Flask — web server and REST API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</a:rPr>
              <a:t>• scikit-learn — machine learning models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</a:rPr>
              <a:t>• GeoPandas + Shapely — spatial joins and geometry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</a:rPr>
              <a:t>• scipy cKDTree — fast nearest-neighbor coast distance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</a:rPr>
              <a:t>• geopy / Nominatim — address geocoding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</a:rPr>
              <a:t>• Flask-Limiter — API rate limiting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DBB11"/>
                </a:solidFill>
              </a:rPr>
              <a:t>Frontend &amp;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</a:rPr>
              <a:t>• Tailwind CSS — utility-first responsive styling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</a:rPr>
              <a:t>• Leaflet.js — interactive map and hex heatmap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</a:rPr>
              <a:t>• Chart.js — buy vs. rent comparison chart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</a:rPr>
              <a:t>• US Census ACS — income, density, housing data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</a:rPr>
              <a:t>• GSHHS Shoreline — high-resolution CA coastline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</a:rPr>
              <a:t>• Nominatim (OpenStreetMap) — geocoding service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371600"/>
            <a:ext cx="54864" cy="5212080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ML Model Improvements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2286000" cy="41148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E8EEF8"/>
                </a:solidFill>
              </a:rPr>
              <a:t>From a single model to a full ensemble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</a:rPr>
              <a:t>• Started with a single RandomForestRegressor as the base model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</a:rPr>
              <a:t>• 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</a:rPr>
              <a:t>• Upgraded to a VotingRegressor ensemble (3 models averaged together):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E8EEF8"/>
                </a:solidFill>
              </a:rPr>
              <a:t>  ▸ RandomForestRegressor (300 trees, depth 15) — captures non-linear interactions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E8EEF8"/>
                </a:solidFill>
              </a:rPr>
              <a:t>  ▸ HistGradientBoostingRegressor (400 iters) — handles mixed feature scales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E8EEF8"/>
                </a:solidFill>
              </a:rPr>
              <a:t>  ▸ ExtraTreesRegressor (200 trees) — adds variance reduction and stability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</a:rPr>
              <a:t>• 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</a:rPr>
              <a:t>• Added KNN stacking layer — finds 5 similar tracts and price-adjusts by square footage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</a:rPr>
              <a:t>• Ridge meta-model (α tuned from 1000 → 8) blends base model + KNN comps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</a:rPr>
              <a:t>• 50% tract census anchor added — uses the neighborhood's own recorded median as a market floor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</a:rPr>
              <a:t>• Income-scaled appreciation factor (1.30×–1.65×) corrects for ACS 2020 → 2025 drift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</a:rPr>
              <a:t>• Trimmed top/bottom 1% of training prices to reduce extreme-outlier skew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New Model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2286000" cy="41148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E8EEF8"/>
                </a:solidFill>
              </a:rPr>
              <a:t>Interaction variables that improved 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EEF8"/>
                </a:solidFill>
              </a:rPr>
              <a:t>12 total features used in training: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659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DBB11"/>
                </a:solidFill>
              </a:rPr>
              <a:t>Core Census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77440"/>
            <a:ext cx="5394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</a:rPr>
              <a:t>• median_income — household income in the tract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</a:rPr>
              <a:t>• median_house_age — average age of housing stock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</a:rPr>
              <a:t>• population &amp; housing_units — tract demographics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</a:rPr>
              <a:t>• pop_density — people per square km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</a:rPr>
              <a:t>• dist_coast_km — miles to Pacific coastline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</a:rPr>
              <a:t>• dist_city_km — miles to nearest major city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DBB11"/>
                </a:solidFill>
              </a:rPr>
              <a:t>Engineered Interaction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5394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</a:rPr>
              <a:t>• income_per_age — wealth relative to housing vintage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</a:rPr>
              <a:t>• persons_per_unit — occupancy pressure signal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</a:rPr>
              <a:t>• relative_density — density vs. CA state average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</a:rPr>
              <a:t>• coast_income — 'Malibu effect': coastal wealth premium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</a:rPr>
              <a:t>• city_density — urban density pressure index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828800"/>
            <a:ext cx="54864" cy="4572000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Ocean Distance Feature Fix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2286000" cy="41148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E8EEF8"/>
                </a:solidFill>
              </a:rPr>
              <a:t>The most critical accuracy bug we resolved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</a:rPr>
              <a:t>• Problem: coast distance was returning 0 for every inland property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E8EEF8"/>
                </a:solidFill>
              </a:rPr>
              <a:t>  ▸ Root cause: GSHHS files contain land-area polygons — a point inside the polygon has distance = 0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E8EEF8"/>
                </a:solidFill>
              </a:rPr>
              <a:t>  ▸ This made ALL predictions ignore the coast penalty entirely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</a:rPr>
              <a:t>• 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</a:rPr>
              <a:t>• Fix 1 — Extract exterior boundary rings: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E8EEF8"/>
                </a:solidFill>
              </a:rPr>
              <a:t>  ▸ Converted filled land polygons → exterior line strings (the actual shoreline)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E8EEF8"/>
                </a:solidFill>
              </a:rPr>
              <a:t>  ▸ Shapely .exterior gives the true coastline edge for distance calculations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</a:rPr>
              <a:t>• 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</a:rPr>
              <a:t>• Fix 2 — Independent KD-tree double-check: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E8EEF8"/>
                </a:solidFill>
              </a:rPr>
              <a:t>  ▸ Built a scipy cKDTree from all coastal vertex coordinates (EPSG:3310 meters)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E8EEF8"/>
                </a:solidFill>
              </a:rPr>
              <a:t>  ▸ If the primary distance and KD-tree distance disagree by &gt;50%, the KD-tree wins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E8EEF8"/>
                </a:solidFill>
              </a:rPr>
              <a:t>  ▸ This completely eliminates silent failures from stale or bad tract data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</a:rPr>
              <a:t>• 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</a:rPr>
              <a:t>• Result: Malibu now correctly shows near-zero coast distance; Sacramento ~120 km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California-Only Geocoding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2286000" cy="41148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E8EEF8"/>
                </a:solidFill>
              </a:rPr>
              <a:t>Ensuring searches always resolve within 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</a:rPr>
              <a:t>• Problem: searching '4509 Camden Court' returned a Chicago suburb, not Granite Bay, CA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50" b="0">
                <a:solidFill>
                  <a:srgbClr val="E8EEF8"/>
                </a:solidFill>
              </a:rPr>
              <a:t>  ▸ The app would then predict a negative or nonsensical price outside the model's training range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</a:rPr>
              <a:t>• 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</a:rPr>
              <a:t>• 3-tier California-preferring geocoder (both backend and frontend):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</a:rPr>
              <a:t>• 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50" b="0">
                <a:solidFill>
                  <a:srgbClr val="E8EEF8"/>
                </a:solidFill>
              </a:rPr>
              <a:t>  ▸ Tier 1 — Hard-bounded CA viewbox (bounded=1)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50" b="0">
                <a:solidFill>
                  <a:srgbClr val="E8EEF8"/>
                </a:solidFill>
              </a:rPr>
              <a:t>  ▸ Nominatim only returns results within California's geographic bounding box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</a:rPr>
              <a:t>• 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50" b="0">
                <a:solidFill>
                  <a:srgbClr val="E8EEF8"/>
                </a:solidFill>
              </a:rPr>
              <a:t>  ▸ Tier 2 — Soft CA preference (bounded=0)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50" b="0">
                <a:solidFill>
                  <a:srgbClr val="E8EEF8"/>
                </a:solidFill>
              </a:rPr>
              <a:t>  ▸ CA viewbox used as a ranking hint; first CA result accepted if one exists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</a:rPr>
              <a:t>• 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50" b="0">
                <a:solidFill>
                  <a:srgbClr val="E8EEF8"/>
                </a:solidFill>
              </a:rPr>
              <a:t>  ▸ Tier 3 — Auto-append ', California'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50" b="0">
                <a:solidFill>
                  <a:srgbClr val="E8EEF8"/>
                </a:solidFill>
              </a:rPr>
              <a:t>  ▸ If no CA result found, the query is retried with ', California' appended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</a:rPr>
              <a:t>• 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</a:rPr>
              <a:t>• CA bounds check in /predict endpoint rejects any non-CA coordinates outright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</a:rPr>
              <a:t>• Map tab search bar (JavaScript) mirrors the same 3-tier logic independently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UI / UX Improvements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2286000" cy="41148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E8EEF8"/>
                </a:solidFill>
              </a:rPr>
              <a:t>From functional to polished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DBB11"/>
                </a:solidFill>
              </a:rPr>
              <a:t>Design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2024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</a:rPr>
              <a:t>• Brand palette: Navy #0B1C3E + Gold #FDBB11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</a:rPr>
              <a:t>• Glass morphism cards with backdrop blur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</a:rPr>
              <a:t>• Plus Jakarta Sans — clean, modern typeface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</a:rPr>
              <a:t>• Tailwind CSS utility classes throughout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</a:rPr>
              <a:t>• fadeIn tab transitions (0.22s ease)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</a:rPr>
              <a:t>• Responsive layout for all screen sizes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DBB11"/>
                </a:solidFill>
              </a:rPr>
              <a:t>Interaction &amp; Feedback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</a:rPr>
              <a:t>• Skeleton loading cards before prediction loads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</a:rPr>
              <a:t>• Animated counter stats on homepage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</a:rPr>
              <a:t>• Price tier badges (Budget / Mid / Premium / Luxury)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</a:rPr>
              <a:t>• Toast notifications for errors and status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</a:rPr>
              <a:t>• Neighborhood rank bar (percentile within CA)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</a:rPr>
              <a:t>• Contribution bars sorted by dollar impact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371600"/>
            <a:ext cx="54864" cy="5212080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New Tabs &amp; Panels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2286000" cy="41148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E8EEF8"/>
                </a:solidFill>
              </a:rPr>
              <a:t>Features added during the 14-day sprint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</a:rPr>
              <a:t>• Live Map Tab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b="0">
                <a:solidFill>
                  <a:srgbClr val="E8EEF8"/>
                </a:solidFill>
              </a:rPr>
              <a:t>  ▸ Hex heatmap overlaid on Leaflet map — shows home values across all of California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b="0">
                <a:solidFill>
                  <a:srgbClr val="E8EEF8"/>
                </a:solidFill>
              </a:rPr>
              <a:t>  ▸ Click any location to get an AI valuation card for that address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b="0">
                <a:solidFill>
                  <a:srgbClr val="E8EEF8"/>
                </a:solidFill>
              </a:rPr>
              <a:t>  ▸ Search bar with 3-tier CA geocoding built into the map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</a:rPr>
              <a:t>• 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</a:rPr>
              <a:t>• Pro Analysis Tab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b="0">
                <a:solidFill>
                  <a:srgbClr val="E8EEF8"/>
                </a:solidFill>
              </a:rPr>
              <a:t>  ▸ Side-by-side monthly cost: buy (mortgage + taxes) vs. rent estimate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b="0">
                <a:solidFill>
                  <a:srgbClr val="E8EEF8"/>
                </a:solidFill>
              </a:rPr>
              <a:t>  ▸ Multi-year cumulative cost chart (Chart.js) showing break-even point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b="0">
                <a:solidFill>
                  <a:srgbClr val="E8EEF8"/>
                </a:solidFill>
              </a:rPr>
              <a:t>  ▸ Property spec controls: sqft, beds, baths, condition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</a:rPr>
              <a:t>• 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</a:rPr>
              <a:t>• Price Driver Breakdown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b="0">
                <a:solidFill>
                  <a:srgbClr val="E8EEF8"/>
                </a:solidFill>
              </a:rPr>
              <a:t>  ▸ Counterfactual analysis: each feature swapped to CA median to measure its impact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b="0">
                <a:solidFill>
                  <a:srgbClr val="E8EEF8"/>
                </a:solidFill>
              </a:rPr>
              <a:t>  ▸ Top 5 drivers shown as sorted contribution bars with +/- dollar amounts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</a:rPr>
              <a:t>• 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</a:rPr>
              <a:t>• Live CA Market Stats Panel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b="0">
                <a:solidFill>
                  <a:srgbClr val="E8EEF8"/>
                </a:solidFill>
              </a:rPr>
              <a:t>  ▸ Statewide median, coastal premium %, 25th/75th/90th percentile benchmarks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b="0">
                <a:solidFill>
                  <a:srgbClr val="E8EEF8"/>
                </a:solidFill>
              </a:rPr>
              <a:t>  ▸ Animated counters load at page open via /market-stats endpoint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Prediction Accuracy: Before vs. After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2286000" cy="41148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E8EEF8"/>
                </a:solidFill>
              </a:rPr>
              <a:t>Real-world example — Granite Bay, CA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5212080" cy="4572000"/>
          </a:xfrm>
          <a:prstGeom prst="rect">
            <a:avLst/>
          </a:prstGeom>
          <a:solidFill>
            <a:srgbClr val="1E1E3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</a:rPr>
              <a:t>BEFORE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5740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E8EEF8"/>
                </a:solidFill>
              </a:rPr>
              <a:t>• Single RandomForest, no stacking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E8EEF8"/>
                </a:solidFill>
              </a:rPr>
              <a:t>• ACS 2020 data with no appreciation adjustment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E8EEF8"/>
                </a:solidFill>
              </a:rPr>
              <a:t>• Ridge meta-model α=1000 pulling everything to CA average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E8EEF8"/>
                </a:solidFill>
              </a:rPr>
              <a:t>• Coast distance bug returning 0 for inland homes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E8EEF8"/>
                </a:solidFill>
              </a:rPr>
              <a:t>• Geocoding returning Illinois addresses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E8EEF8"/>
                </a:solidFill>
              </a:rPr>
              <a:t>• 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E8EEF8"/>
                </a:solidFill>
              </a:rPr>
              <a:t>• Granite Bay estimated price: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b="0">
                <a:solidFill>
                  <a:srgbClr val="E8EEF8"/>
                </a:solidFill>
              </a:rPr>
              <a:t>  ▸ ~$450,000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b="0">
                <a:solidFill>
                  <a:srgbClr val="E8EEF8"/>
                </a:solidFill>
              </a:rPr>
              <a:t>  ▸ (actual 2025 median: $950K–$1.3M)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508760"/>
            <a:ext cx="5212080" cy="4572000"/>
          </a:xfrm>
          <a:prstGeom prst="rect">
            <a:avLst/>
          </a:prstGeom>
          <a:solidFill>
            <a:srgbClr val="052E1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AFTER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05740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E8EEF8"/>
                </a:solidFill>
              </a:rPr>
              <a:t>• 3-model VotingRegressor ensemble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E8EEF8"/>
                </a:solidFill>
              </a:rPr>
              <a:t>• 50% tract anchor + income-scaled 1.30–1.65× appreciation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E8EEF8"/>
                </a:solidFill>
              </a:rPr>
              <a:t>• Ridge α=8 with full feature sensitivity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E8EEF8"/>
                </a:solidFill>
              </a:rPr>
              <a:t>• GSHHS exterior rings + KD-tree coast verification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E8EEF8"/>
                </a:solidFill>
              </a:rPr>
              <a:t>• 3-tier CA geocoding on both backend and frontend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E8EEF8"/>
                </a:solidFill>
              </a:rPr>
              <a:t>• 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E8EEF8"/>
                </a:solidFill>
              </a:rPr>
              <a:t>• Granite Bay estimated price: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b="0">
                <a:solidFill>
                  <a:srgbClr val="E8EEF8"/>
                </a:solidFill>
              </a:rPr>
              <a:t>  ▸ ~$1,050,000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b="0">
                <a:solidFill>
                  <a:srgbClr val="E8EEF8"/>
                </a:solidFill>
              </a:rPr>
              <a:t>  ▸ (accurate to current Granite Bay market)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42432" y="34747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DBB11"/>
                </a:solidFill>
              </a:rPr>
              <a:t>vs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Future Plans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2286000" cy="41148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E8EEF8"/>
                </a:solidFill>
              </a:rPr>
              <a:t>Where PriceNest goes 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DBB11"/>
                </a:solidFill>
              </a:rPr>
              <a:t>Near-Term (0–3 months)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2024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</a:rPr>
              <a:t>• Integrate real-time MLS / Zillow API for live comparable sales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</a:rPr>
              <a:t>• Add school district ratings as a model feature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</a:rPr>
              <a:t>• Walk Score / Transit Score integration for urban properties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</a:rPr>
              <a:t>• Saved searches — user accounts to track multiple properties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</a:rPr>
              <a:t>• Mobile-optimized responsive redesign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DBB11"/>
                </a:solidFill>
              </a:rPr>
              <a:t>Long-Term Vision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</a:rPr>
              <a:t>• Nationwide expansion beyond California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</a:rPr>
              <a:t>• Multi-family and commercial property support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</a:rPr>
              <a:t>• Historical price trend charts per neighborhood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</a:rPr>
              <a:t>• Investment ROI calculator (cap rate, cash-on-cash)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</a:rPr>
              <a:t>• Natural language search ('3bd near beach under $1M')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</a:rPr>
              <a:t>• LLM-powered property report generation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371600"/>
            <a:ext cx="54864" cy="5212080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828800"/>
            <a:ext cx="121889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29184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FDBB11"/>
                </a:solidFill>
              </a:rPr>
              <a:t>PriceNest — Built by Jake, Saketh &amp; Adih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93192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E8EEF8"/>
                </a:solidFill>
              </a:rPr>
              <a:t>Accurate California home valuations, powered by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